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DM Serif Display" pitchFamily="2" charset="0"/>
      <p:regular r:id="rId13"/>
    </p:embeddedFont>
    <p:embeddedFont>
      <p:font typeface="Lexend Deca" panose="020B0604020202020204" charset="0"/>
      <p:regular r:id="rId14"/>
    </p:embeddedFont>
    <p:embeddedFont>
      <p:font typeface="Montserrat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2F9C-7319-638B-2934-01977090F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BD197-6860-FCD8-889F-2CBC6D6A1C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8A125-D24A-4358-77B6-E8D744F2C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85166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89495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597982" y="4225917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597982" y="2836473"/>
            <a:ext cx="7209932" cy="98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23658"/>
            <a:ext cx="8548533" cy="27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29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Netflix is a leading streaming platform.</a:t>
            </a:r>
          </a:p>
          <a:p>
            <a:pPr algn="l">
              <a:lnSpc>
                <a:spcPts val="4424"/>
              </a:lnSpc>
            </a:pPr>
            <a:r>
              <a:rPr lang="en-US" sz="29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Dataset covers movies &amp; TV shows.</a:t>
            </a:r>
          </a:p>
          <a:p>
            <a:pPr algn="l">
              <a:lnSpc>
                <a:spcPts val="4424"/>
              </a:lnSpc>
            </a:pPr>
            <a:r>
              <a:rPr lang="en-US" sz="29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Includes title, type, country, rating, genre, release year, date added.</a:t>
            </a:r>
          </a:p>
          <a:p>
            <a:pPr algn="l">
              <a:lnSpc>
                <a:spcPts val="4424"/>
              </a:lnSpc>
            </a:pPr>
            <a:r>
              <a:rPr lang="en-US" sz="29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Goal: Extract patterns and insights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pic>
        <p:nvPicPr>
          <p:cNvPr id="1026" name="Picture 2" descr="NETFLIX Logo PNG Vector">
            <a:extLst>
              <a:ext uri="{FF2B5EF4-FFF2-40B4-BE49-F238E27FC236}">
                <a16:creationId xmlns:a16="http://schemas.microsoft.com/office/drawing/2014/main" id="{FAED4664-B8E1-B877-921D-5F7F238A1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926" y="2167871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8411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8" y="0"/>
                </a:lnTo>
                <a:lnTo>
                  <a:pt x="2719178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008871" y="5162550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9008871" y="2836473"/>
            <a:ext cx="6768653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 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18082" y="5515772"/>
            <a:ext cx="8806836" cy="1906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50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Contains ~8,800 titles.</a:t>
            </a:r>
          </a:p>
          <a:p>
            <a:pPr algn="l">
              <a:lnSpc>
                <a:spcPts val="3760"/>
              </a:lnSpc>
            </a:pPr>
            <a:r>
              <a:rPr lang="en-US" sz="250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Key fields: type, director, cast, country, rating, duration, genres.</a:t>
            </a:r>
          </a:p>
          <a:p>
            <a:pPr algn="l">
              <a:lnSpc>
                <a:spcPts val="3760"/>
              </a:lnSpc>
            </a:pPr>
            <a:r>
              <a:rPr lang="en-US" sz="250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Data cleaned and dates standardized.</a:t>
            </a:r>
          </a:p>
        </p:txBody>
      </p:sp>
      <p:pic>
        <p:nvPicPr>
          <p:cNvPr id="7176" name="Picture 8" descr="film clapperboard, movie production, cinematography, filmmaking equipment, Movie PNG">
            <a:extLst>
              <a:ext uri="{FF2B5EF4-FFF2-40B4-BE49-F238E27FC236}">
                <a16:creationId xmlns:a16="http://schemas.microsoft.com/office/drawing/2014/main" id="{AA1ADEEE-F5FA-12ED-63BA-1C4FFE28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54" y="3162300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17335" y="-570566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13341" y="4848648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313341" y="2522571"/>
            <a:ext cx="8669521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CONTENT TYPE DISTRIBUTION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092" y="5196573"/>
            <a:ext cx="7921779" cy="294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313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•Movies ~70–75% of catalog.</a:t>
            </a:r>
          </a:p>
          <a:p>
            <a:pPr algn="l">
              <a:lnSpc>
                <a:spcPts val="4696"/>
              </a:lnSpc>
            </a:pPr>
            <a:r>
              <a:rPr lang="en-US" sz="313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TV Shows ~25–30%.</a:t>
            </a:r>
          </a:p>
          <a:p>
            <a:pPr algn="l">
              <a:lnSpc>
                <a:spcPts val="4696"/>
              </a:lnSpc>
            </a:pPr>
            <a:r>
              <a:rPr lang="en-US" sz="313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Netflix focuses more on movies but invests heavily in series.</a:t>
            </a:r>
          </a:p>
          <a:p>
            <a:pPr algn="l">
              <a:lnSpc>
                <a:spcPts val="4696"/>
              </a:lnSpc>
            </a:pPr>
            <a:endParaRPr lang="en-US" sz="313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DC3782-A44F-D067-4138-7DB9B169C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764" y="2815323"/>
            <a:ext cx="5334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7021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08540" y="5064784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08540" y="2738707"/>
            <a:ext cx="6768653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COUNTRY-WISE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31307" y="5866409"/>
            <a:ext cx="9438492" cy="210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280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Top producing countries: USA, India, UK, Canada, Japan.</a:t>
            </a:r>
          </a:p>
          <a:p>
            <a:pPr algn="l">
              <a:lnSpc>
                <a:spcPts val="4208"/>
              </a:lnSpc>
            </a:pPr>
            <a:r>
              <a:rPr lang="en-US" sz="280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Indicates strong global production diversity.</a:t>
            </a:r>
          </a:p>
          <a:p>
            <a:pPr algn="l">
              <a:lnSpc>
                <a:spcPts val="4208"/>
              </a:lnSpc>
            </a:pPr>
            <a:endParaRPr lang="en-US" sz="280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609645-22CA-22F6-5DE0-E71BA6443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39728"/>
            <a:ext cx="62484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57650" y="77289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4026678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2599134"/>
            <a:ext cx="6870626" cy="149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5"/>
              </a:lnSpc>
            </a:pPr>
            <a:r>
              <a:rPr lang="en-US" sz="528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RELEASE YEAR TRENDS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1437" y="5208707"/>
            <a:ext cx="6621223" cy="288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306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Steady growth from 2000–2020.</a:t>
            </a:r>
          </a:p>
          <a:p>
            <a:pPr algn="l">
              <a:lnSpc>
                <a:spcPts val="4596"/>
              </a:lnSpc>
            </a:pPr>
            <a:r>
              <a:rPr lang="en-US" sz="306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Major spike around 2018–2020.</a:t>
            </a:r>
          </a:p>
          <a:p>
            <a:pPr algn="l">
              <a:lnSpc>
                <a:spcPts val="4596"/>
              </a:lnSpc>
            </a:pPr>
            <a:r>
              <a:rPr lang="en-US" sz="306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Growth driven by Netflix Originals.</a:t>
            </a:r>
          </a:p>
          <a:p>
            <a:pPr algn="l">
              <a:lnSpc>
                <a:spcPts val="4596"/>
              </a:lnSpc>
            </a:pPr>
            <a:endParaRPr lang="en-US" sz="306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89C6F97-9C1D-6D32-BA5A-168511973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76" y="2971444"/>
            <a:ext cx="53340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274755" y="4026678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8560037" y="2778472"/>
            <a:ext cx="9113385" cy="882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6"/>
              </a:lnSpc>
            </a:pPr>
            <a:r>
              <a:rPr lang="en-US" sz="6205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RATINGS DISTRIBUTION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0352" y="4472769"/>
            <a:ext cx="10660314" cy="165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5"/>
              </a:lnSpc>
            </a:pPr>
            <a:r>
              <a:rPr lang="en-US" sz="29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Most common: TV-MA, TV-14, TV-PG.</a:t>
            </a:r>
          </a:p>
          <a:p>
            <a:pPr algn="l">
              <a:lnSpc>
                <a:spcPts val="4405"/>
              </a:lnSpc>
            </a:pPr>
            <a:r>
              <a:rPr lang="en-US" sz="29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Majority of content aimed at mature audiences.</a:t>
            </a:r>
          </a:p>
          <a:p>
            <a:pPr algn="l">
              <a:lnSpc>
                <a:spcPts val="4405"/>
              </a:lnSpc>
            </a:pPr>
            <a:endParaRPr lang="en-US" sz="293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D92572-0F38-4BA9-4609-73F65C778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662874"/>
            <a:ext cx="53340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86350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597982" y="4225917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140279" y="2560087"/>
            <a:ext cx="9146584" cy="5246370"/>
            <a:chOff x="0" y="0"/>
            <a:chExt cx="7981950" cy="4578350"/>
          </a:xfrm>
        </p:grpSpPr>
        <p:sp>
          <p:nvSpPr>
            <p:cNvPr id="15" name="Freeform 1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t="-3228" b="-3228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7982" y="2836473"/>
            <a:ext cx="7209932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GENRE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5003" y="4741094"/>
            <a:ext cx="8544340" cy="2258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98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Top genres: International Movies, Dramas, Comedies, Documentaries.</a:t>
            </a:r>
          </a:p>
          <a:p>
            <a:pPr algn="l">
              <a:lnSpc>
                <a:spcPts val="4483"/>
              </a:lnSpc>
            </a:pPr>
            <a:r>
              <a:rPr lang="en-US" sz="298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Shows wide content diversity.</a:t>
            </a:r>
          </a:p>
          <a:p>
            <a:pPr algn="l">
              <a:lnSpc>
                <a:spcPts val="4483"/>
              </a:lnSpc>
            </a:pPr>
            <a:endParaRPr lang="en-US" sz="298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2F382A7-3B51-AEE9-2266-B84B97C6F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788" y="2836472"/>
            <a:ext cx="7008497" cy="437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392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5120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4034369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2745319"/>
            <a:ext cx="8502231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DURATION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8392" y="5048369"/>
            <a:ext cx="9292538" cy="120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Movies mostly 80–120 minutes.</a:t>
            </a:r>
          </a:p>
          <a:p>
            <a:pPr algn="ctr">
              <a:lnSpc>
                <a:spcPts val="3221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TV shows usually 1–2 seasons.</a:t>
            </a:r>
          </a:p>
          <a:p>
            <a:pPr algn="ctr">
              <a:lnSpc>
                <a:spcPts val="3221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Indicates preference for binge‑friendly formats.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F7441D-0008-E7CF-C1DC-A61B626CD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420" y="2695648"/>
            <a:ext cx="8316486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392" y="-285283"/>
            <a:ext cx="2719179" cy="10857566"/>
          </a:xfrm>
          <a:custGeom>
            <a:avLst/>
            <a:gdLst/>
            <a:ahLst/>
            <a:cxnLst/>
            <a:rect l="l" t="t" r="r" b="b"/>
            <a:pathLst>
              <a:path w="2719179" h="10857566">
                <a:moveTo>
                  <a:pt x="0" y="0"/>
                </a:moveTo>
                <a:lnTo>
                  <a:pt x="2719179" y="0"/>
                </a:lnTo>
                <a:lnTo>
                  <a:pt x="2719179" y="10857566"/>
                </a:lnTo>
                <a:lnTo>
                  <a:pt x="0" y="1085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51209" y="8404412"/>
            <a:ext cx="18558259" cy="1882588"/>
            <a:chOff x="0" y="0"/>
            <a:chExt cx="4887772" cy="495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4034369"/>
            <a:ext cx="6099323" cy="0"/>
          </a:xfrm>
          <a:prstGeom prst="line">
            <a:avLst/>
          </a:prstGeom>
          <a:ln w="38100" cap="flat">
            <a:solidFill>
              <a:srgbClr val="15151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2745319"/>
            <a:ext cx="8502231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8392" y="5057894"/>
            <a:ext cx="9865275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  <a:spcBef>
                <a:spcPct val="0"/>
              </a:spcBef>
            </a:pPr>
            <a:r>
              <a:rPr lang="en-US" sz="28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Netflix catalog is movie‑dominant.</a:t>
            </a:r>
          </a:p>
          <a:p>
            <a:pPr algn="ctr">
              <a:lnSpc>
                <a:spcPts val="3420"/>
              </a:lnSpc>
              <a:spcBef>
                <a:spcPct val="0"/>
              </a:spcBef>
            </a:pPr>
            <a:r>
              <a:rPr lang="en-US" sz="28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High content production from USA &amp; India.</a:t>
            </a:r>
          </a:p>
          <a:p>
            <a:pPr algn="ctr">
              <a:lnSpc>
                <a:spcPts val="3420"/>
              </a:lnSpc>
              <a:spcBef>
                <a:spcPct val="0"/>
              </a:spcBef>
            </a:pPr>
            <a:r>
              <a:rPr lang="en-US" sz="28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Strong growth in yearly additions.</a:t>
            </a:r>
          </a:p>
          <a:p>
            <a:pPr algn="ctr">
              <a:lnSpc>
                <a:spcPts val="3420"/>
              </a:lnSpc>
              <a:spcBef>
                <a:spcPct val="0"/>
              </a:spcBef>
            </a:pPr>
            <a:r>
              <a:rPr lang="en-US" sz="28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•• Diverse genres &amp; mature‑audience focus.</a:t>
            </a:r>
          </a:p>
          <a:p>
            <a:pPr algn="ctr">
              <a:lnSpc>
                <a:spcPts val="3420"/>
              </a:lnSpc>
              <a:spcBef>
                <a:spcPct val="0"/>
              </a:spcBef>
            </a:pPr>
            <a:endParaRPr lang="en-US" sz="285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0259" y="0"/>
            <a:ext cx="18558259" cy="1882588"/>
            <a:chOff x="0" y="0"/>
            <a:chExt cx="4887772" cy="4958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780286"/>
            <a:ext cx="569282" cy="496828"/>
          </a:xfrm>
          <a:custGeom>
            <a:avLst/>
            <a:gdLst/>
            <a:ahLst/>
            <a:cxnLst/>
            <a:rect l="l" t="t" r="r" b="b"/>
            <a:pathLst>
              <a:path w="569282" h="496828">
                <a:moveTo>
                  <a:pt x="0" y="0"/>
                </a:moveTo>
                <a:lnTo>
                  <a:pt x="569282" y="0"/>
                </a:lnTo>
                <a:lnTo>
                  <a:pt x="569282" y="496828"/>
                </a:lnTo>
                <a:lnTo>
                  <a:pt x="0" y="4968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70259" y="8404412"/>
            <a:ext cx="18558259" cy="1882588"/>
            <a:chOff x="0" y="0"/>
            <a:chExt cx="4887772" cy="4958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7772" cy="495826"/>
            </a:xfrm>
            <a:custGeom>
              <a:avLst/>
              <a:gdLst/>
              <a:ahLst/>
              <a:cxnLst/>
              <a:rect l="l" t="t" r="r" b="b"/>
              <a:pathLst>
                <a:path w="4887772" h="495826">
                  <a:moveTo>
                    <a:pt x="0" y="0"/>
                  </a:moveTo>
                  <a:lnTo>
                    <a:pt x="4887772" y="0"/>
                  </a:lnTo>
                  <a:lnTo>
                    <a:pt x="4887772" y="495826"/>
                  </a:lnTo>
                  <a:lnTo>
                    <a:pt x="0" y="495826"/>
                  </a:ln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4887772" cy="49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73671" y="836375"/>
            <a:ext cx="118562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2435" y="836375"/>
            <a:ext cx="1351236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92866" y="836375"/>
            <a:ext cx="1129569" cy="2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7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528" y="856298"/>
            <a:ext cx="375007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MOVIE PRODUCTION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83566" y="3134910"/>
            <a:ext cx="12850610" cy="384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</a:pPr>
            <a:r>
              <a:rPr lang="en-US" sz="12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304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Lexend Deca</vt:lpstr>
      <vt:lpstr>DM Serif Display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Red Modern Movie Production Presentation</dc:title>
  <cp:lastModifiedBy>Rishabh Singh</cp:lastModifiedBy>
  <cp:revision>2</cp:revision>
  <dcterms:created xsi:type="dcterms:W3CDTF">2006-08-16T00:00:00Z</dcterms:created>
  <dcterms:modified xsi:type="dcterms:W3CDTF">2025-12-04T18:06:52Z</dcterms:modified>
  <dc:identifier>DAG6kWI73nw</dc:identifier>
</cp:coreProperties>
</file>